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911506" y="2316281"/>
            <a:ext cx="6400800" cy="1947333"/>
          </a:xfrm>
        </p:spPr>
        <p:txBody>
          <a:bodyPr>
            <a:normAutofit/>
          </a:bodyPr>
          <a:lstStyle/>
          <a:p>
            <a:r>
              <a:rPr lang="pt-PT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Instituto Técnico Comercial De Luanda</a:t>
            </a:r>
          </a:p>
          <a:p>
            <a:r>
              <a:rPr lang="pt-PT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Coordenação do curso de Informática </a:t>
            </a: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G-20260212-WA000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68848" y="396239"/>
            <a:ext cx="5180965" cy="1775460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1656678" y="3289947"/>
            <a:ext cx="9187030" cy="1084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Tema</a:t>
            </a: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SISTEMA DE GESTÃO E MONITORIZAÇÃO DA RECOLHA DE RESÍDUOS    SÓLIDOS E OCORRÊNCIAS DE SANEAMENTO PARA O MUNICÍPIO DE MULENVOS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7" name="Retângulo 6"/>
          <p:cNvSpPr/>
          <p:nvPr/>
        </p:nvSpPr>
        <p:spPr>
          <a:xfrm>
            <a:off x="4216306" y="5347628"/>
            <a:ext cx="6096000" cy="78765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Luanda,2025/2026                             </a:t>
            </a:r>
            <a:endParaRPr lang="pt-PT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761179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068" y="1420009"/>
            <a:ext cx="3073773" cy="3786691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5178013" y="2237965"/>
            <a:ext cx="4719022" cy="23834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Nome:Branca Camana Bartolomeu </a:t>
            </a:r>
            <a:endParaRPr lang="pt-PT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Curso:Técnico de Informática de Gestão</a:t>
            </a:r>
            <a:endParaRPr lang="pt-PT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Turma:DTI</a:t>
            </a:r>
            <a:endParaRPr lang="pt-PT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Sala:16</a:t>
            </a:r>
            <a:endParaRPr lang="pt-PT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Classe:13º</a:t>
            </a:r>
            <a:endParaRPr lang="pt-PT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pt-PT" sz="16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4476754" y="491452"/>
            <a:ext cx="2033635" cy="3740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PT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FICHA TÉCNICA</a:t>
            </a:r>
            <a:endParaRPr lang="pt-PT" sz="1600" b="1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4715293" y="5799526"/>
            <a:ext cx="1922321" cy="3740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Luanda,2025/2026</a:t>
            </a:r>
            <a:endParaRPr lang="pt-PT" sz="16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245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236669" y="133822"/>
            <a:ext cx="11639774" cy="64743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PT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INTRODUÇÃO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gestão dos resíduos sólidos constitui um dos principais desafios enfrentados pelas administrações urbanas, devido ao crescimento das cidades, ao aumento do consumo e à produção contínua de resíduos domésticos, comerciais e institucionais.</a:t>
            </a:r>
            <a:endParaRPr lang="pt-P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Uma gestão inadequada dos resíduos pode provocar a poluição do solo e da água, a obstrução de sistemas de drenagem, a proliferação de insectos e roedores e a degradação dos espaços públicos. Por esse motivo, a recolha regular, o transporte adequado e a deposição controlada dos resíduos são actividades essenciais para o desenvolvimento sustentável.</a:t>
            </a:r>
            <a:endParaRPr lang="pt-P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Segundo o Banco Mundial (2018), a gestão dos resíduos sólidos é um serviço urbano fundamental e exige planeamento, financiamento, infra-estruturas e participação dos cidadãos.</a:t>
            </a:r>
            <a:endParaRPr lang="pt-P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 Angola, a gestão dos resíduos urbanos também constitui uma preocupação importante para as autoridades públicas. </a:t>
            </a:r>
            <a:endParaRPr lang="pt-P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 Decreto Presidencial n.º 196/12 aprovou o Plano Estratégico para a Gestão de Resíduos Urbanos, estabelecendo orientações para a organização e melhoria deste sector (República de Angola, 2012).</a:t>
            </a:r>
            <a:endParaRPr lang="pt-P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Neste contexto, as tecnologias de informação podem contribuir para melhorar a organização dos serviços municipais. Através de um sistema informático, torna-se possível registar ocorrências, identificar a sua localização, atribuir tarefas às equipas responsáveis e acompanhar o estado de resolução dos problemas.</a:t>
            </a:r>
            <a:endParaRPr lang="pt-P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 presente trabalho propõe o desenvolvimento de um Sistema de Gestão e Monitorização da Recolha de Resíduos Sólidos e Ocorrências de Saneamento para o Município de Mulenvos, com o propósito de apoiar a administração municipal na gestão das informações e na coordenação das actividades de limpeza pública.O sistema pretende funcionar como uma ferramenta de apoio à gestão, não substituindo os trabalhadores, os equipamentos de recolha ou as responsabilidades das entidades competentes.</a:t>
            </a:r>
            <a:endParaRPr lang="pt-P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2345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129091" y="427459"/>
            <a:ext cx="9886278" cy="5860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CASO DE ESTUDO: MUNICÍPIO DE MULENVOS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 Município de Mulenvos, situado na província de Luanda, constitui o contexto geográfico escolhido para a proposta de desenvolvimento do sistema.</a:t>
            </a:r>
            <a:endParaRPr lang="pt-P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gestão dos resíduos sólidos e das ocorrências de saneamento num município exige a coordenação entre os responsáveis administrativos, os operadores de recolha, as equipas de campo e os cidadãos.</a:t>
            </a:r>
            <a:endParaRPr lang="pt-P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Entre as situações que o sistema poderá ajudar a acompanhar encontram-se:Acumulação de resíduos em espaços públicos.</a:t>
            </a:r>
            <a:endParaRPr lang="pt-P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Contentores de lixo cheios ou danificados.</a:t>
            </a:r>
            <a:endParaRPr lang="pt-P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Deposição irregular de resíduos.</a:t>
            </a:r>
            <a:endParaRPr lang="pt-P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Necessidade de limpeza de ruas e terrenos públicos.</a:t>
            </a:r>
            <a:endParaRPr lang="pt-P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Valas de drenagem obstruídas por resíduos.</a:t>
            </a:r>
            <a:endParaRPr lang="pt-P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Existência de águas paradas em locais que necessitam de intervenção.</a:t>
            </a:r>
            <a:endParaRPr lang="pt-P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Reclamações relacionadas com a recolha de lixo.</a:t>
            </a:r>
            <a:endParaRPr lang="pt-P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Atrasos na execução de tarefas de limpeza.A proposta consiste em criar uma plataforma digital na qual cada ocorrência seja registada e receba um número de identificação. Esse número permitirá acompanhar o pedido desde a sua comunicação até à sua resolução.</a:t>
            </a:r>
            <a:endParaRPr lang="pt-P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520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229496" y="501787"/>
            <a:ext cx="5332208" cy="38868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pt-PT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pt-PT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PROBLEMA DE INVESTIGAÇÃO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gestão eficiente da recolha de resíduos sólidos depende da existência de informações actualizadas sobre os locais que necessitam de limpeza, as ocorrências comunicadas pelos cidadãos e as tarefas realizadas pelas equipas responsáveis.</a:t>
            </a:r>
            <a:endParaRPr lang="pt-P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Quando as informações são registadas em documentos dispersos, chamadas telefónicas ou mensagens sem um mecanismo central de acompanhamento, podem surgir dificuldades na organização dos pedidos, na identificação das responsabilidades e na verificação da resolução dos problemas. </a:t>
            </a:r>
            <a:endParaRPr lang="pt-P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6684086" y="530238"/>
            <a:ext cx="5314277" cy="23720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</a:t>
            </a: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PERGUNTA DE PESQUISA</a:t>
            </a:r>
            <a:endParaRPr lang="pt-P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 que forma um sistema de gestão e monitorização pode contribuir para melhorar o registo, o acompanhamento e a resolução das ocorrências relacionadas com a recolha de resíduos sólidos e o saneamento no Município de Mulenvos?</a:t>
            </a:r>
            <a:endParaRPr lang="pt-P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070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0" y="77450"/>
            <a:ext cx="6096000" cy="61221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 JUSTIFICAÇÃO DO ESTUDO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escolha deste tema justifica-se pela importância da limpeza pública e do saneamento para a saúde, o ambiente e o bem-estar das comunidades. A utilização de um sistema informático poderá facilitar a comunicação entre os cidadãos e os serviços municipais, permitindo que as ocorrências sejam registadas, classificadas e encaminhadas para os responsáveis pela sua resolução. Do ponto de vista social, a proposta procura incentivar a participação dos munícipes na identificação dos problemas de limpeza pública.Do ponto de vista ambiental, o sistema poderá facilitar a identificação de locais onde se verifica acumulação frequente de resíduos, permitindo que os responsáveis planeiam intervenções com base nos dados disponíveis. Do ponto de vista administrativo, a centralização das informações poderá reduzir a dispersão dos registos e facilitar a elaboração de relatórios de acompanhamento.Do ponto de vista académico, o projecto permite aplicar conhecimentos de análise de sistemas, bases de dados, programação, desenvolvimento web e gestão de projectos informáticos.</a:t>
            </a:r>
            <a:endParaRPr lang="pt-P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6017111" y="29079"/>
            <a:ext cx="5880847" cy="6429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OBJECTIVOS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6.1. Objectivo geral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Propor o desenvolvimento de um Sistema de Gestão e Monitorização da Recolha de Resíduos Sólidos e Ocorrências de Saneamento para o Município de Mulenvos, com vista a melhorar o registo, o acompanhamento e a organização das actividades de limpeza pública.</a:t>
            </a:r>
            <a:endParaRPr lang="pt-P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6.2. Objectivos específico 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Identificar os principais tipos de ocorrências relacionadas com resíduos sólidos e </a:t>
            </a: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saneamento.</a:t>
            </a:r>
            <a:r>
              <a:rPr lang="pt-PT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Analisar </a:t>
            </a: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 dificuldades associadas ao registo e acompanhamento das </a:t>
            </a: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ocorrências.</a:t>
            </a:r>
            <a:r>
              <a:rPr lang="pt-PT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Definir </a:t>
            </a: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os requisitos funcionais e não funcionais do </a:t>
            </a: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sistema.</a:t>
            </a:r>
            <a:r>
              <a:rPr lang="pt-PT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Comparar </a:t>
            </a: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linguagens de programação utilizadas no desenvolvimento de aplicações </a:t>
            </a: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web.</a:t>
            </a:r>
            <a:r>
              <a:rPr lang="pt-PT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Selecionar </a:t>
            </a: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tecnologias adequadas à implementação da </a:t>
            </a: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solução.</a:t>
            </a:r>
            <a:r>
              <a:rPr lang="pt-PT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Criar </a:t>
            </a: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uma proposta de base de dados para armazenar as </a:t>
            </a: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informações.</a:t>
            </a:r>
            <a:r>
              <a:rPr lang="pt-PT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Permitir </a:t>
            </a: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 acompanhamento do estado das </a:t>
            </a: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ocorrências.</a:t>
            </a:r>
            <a:r>
              <a:rPr lang="pt-PT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Disponibilizar </a:t>
            </a: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relatórios para apoiar a tomada de </a:t>
            </a: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decisões.</a:t>
            </a:r>
            <a:r>
              <a:rPr lang="pt-PT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Promover </a:t>
            </a: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participação dos cidadãos na comunicação dos problemas de saneamento</a:t>
            </a: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pt-P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1938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132678" y="80683"/>
            <a:ext cx="6096000" cy="23720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 METODOLOGIA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metodologia corresponde ao conjunto de procedimentos utilizados para desenvolver uma investigação e alcançar os objectivos definidos.</a:t>
            </a:r>
            <a:endParaRPr lang="pt-P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 este trabalho, propõe-se uma metodologia de natureza aplicada, com abordagem descritiva e orientação para o desenvolvimento de um sistema informático.</a:t>
            </a:r>
            <a:endParaRPr lang="pt-P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1635161" y="2469309"/>
            <a:ext cx="6096000" cy="16767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7.1. Pesquisa bibliográfica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pesquisa bibliográfica consiste na consulta de livros, artigos científicos, legislação e documentação técnica relacionados com a gestão de resíduos sólidos, o saneamento e o desenvolvimento de sistemas de informação.</a:t>
            </a:r>
            <a:endParaRPr lang="pt-P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3607396" y="4065797"/>
            <a:ext cx="8247529" cy="226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7.2. Levantamento de requisitos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 levantamento de requisitos deverá permitir compreender as necessidades dos utilizadores do sistema.Para isso, recomenda-se realizar entrevistas com funcionários municipais, operadores de recolha, supervisores e munícipes. Poderão também ser efectuadas observações de campo para identificar os procedimentos utilizados actualmente.As informações recolhidas deverão ajudar a definir as funcionalidades necessárias e a forma como os utilizadores irão interagir com o sistema.</a:t>
            </a:r>
            <a:endParaRPr lang="pt-P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655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283285" y="272395"/>
            <a:ext cx="5837816" cy="4479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8. FUNDAMENTAÇÃO TEÓRICA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8.1. Conceito de resíduos sólidos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Os resíduos sólidos são materiais descartados resultantes de actividades humanas, domésticas, comerciais, industriais ou institucionais. Estes resíduos podem incluir restos de alimentos, embalagens, papel, plástico, vidro, metais e outros materiais. A gestão adequada dos resíduos envolve várias etapas, desde a sua produção até ao destino final. Entre essas etapas encontram-se a separação, o acondicionamento, a recolha, o transporte, o tratamento, a valorização e a deposição final. Segundo o Banco Mundial (2018), a gestão dos resíduos sólidos exige soluções organizadas e sustentáveis, adaptadas às condições económicas, sociais e ambientais de cada localidade.</a:t>
            </a:r>
            <a:endParaRPr lang="pt-P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6379285" y="272395"/>
            <a:ext cx="5572461" cy="4376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8.2. Importância da recolha de resíduos sólidos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recolha de resíduos sólidos é essencial para manter os espaços públicos limpos e reduzir os riscos associados à acumulação descontrolada de lixo. Quando os resíduos permanecem durante muito tempo em locais inadequados, podem contribuir para a poluição ambiental, produzir maus odores e favorecer a presença de animais e insectos transmissores de doenças. A recolha organizada também facilita o transporte dos resíduos para instalações apropriadas de tratamento ou deposição. Por isso, é importante que os serviços responsáveis disponham de informações sobre os locais que necessitam de intervenção, a frequência das recolhas e as ocorrências comunicadas pelos cidadãos.</a:t>
            </a:r>
            <a:endParaRPr lang="pt-P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4561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143436" y="145228"/>
            <a:ext cx="2857948" cy="5039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9. ESTUDO COMPARATIVO DAS TECNOLOGIAS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escolha das tecnologias é uma etapa importante no desenvolvimento de um sistema informático, porque influencia a facilidade de implementação, a manutenção, a segurança e a possibilidade de evolução futura.</a:t>
            </a:r>
            <a:endParaRPr lang="pt-P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 este projecto, são analisadas as linguagens Python, PHP, JavaScript, C, C++ , C# e Java.</a:t>
            </a:r>
            <a:endParaRPr lang="pt-P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3001384" y="145228"/>
            <a:ext cx="9083040" cy="6657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9.1Python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Python é uma linguagem de programação de uso geral, conhecida pela sua sintaxe relativamente simples e pela facilidade de leitura do código. Segundo a Python Software Foundation (s.d.), a linguagem disponibiliza documentação oficial e ferramentas para diferentes tipos de desenvolvimento. No sistema proposto, Python poderá ser utilizado no servidor para processar os dados, validar ocorrências, gerir utilizadores e comunicar com a base de dados.</a:t>
            </a:r>
            <a:endParaRPr lang="pt-P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Vantagens: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Sintaxe clara.</a:t>
            </a:r>
            <a:endParaRPr lang="pt-P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Facilidade de aprendizagem.</a:t>
            </a:r>
            <a:endParaRPr lang="pt-P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Disponibilidade de bibliotecas.</a:t>
            </a:r>
            <a:endParaRPr lang="pt-P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Adequação ao desenvolvimento de aplicações web.</a:t>
            </a:r>
            <a:endParaRPr lang="pt-P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Possibilidade de produzir relatórios e analisar dados.</a:t>
            </a:r>
            <a:endParaRPr lang="pt-P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Desvantagens: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Exige conhecimentos sobre a framework escolhida.</a:t>
            </a:r>
            <a:endParaRPr lang="pt-P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Necessita de configuração adequada para funcionar em produção.</a:t>
            </a:r>
            <a:endParaRPr lang="pt-PT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segurança depende da implementação e da manutenção.Aplicação no projecto: desenvolvimento da lógica principal do sistema e da API de comunicação com a base de dados</a:t>
            </a: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387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143435" y="103848"/>
            <a:ext cx="11689976" cy="5073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9.2. PHP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PHP é uma linguagem de programação muito utilizada no desenvolvimento de aplicações web do lado do servidor. Permite receber formulários, validar informações, gerir sessões de utilizadores e comunicar com bases de dados.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Vantagens: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Boa integração com aplicações web.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Disponibilidade de ferramentas e frameworks.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Possibilidade de alojamento em diferentes fornecedores.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Adequação a sistemas de gestão de informação.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Desvantagens: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Exige boas práticas de organização do código.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Necessita de cuidados com autenticação, validação e segurança.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manutenção pode tornar-se difícil quando o projecto não possui uma estrutura adequada.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Aplicação no projecto: poderá ser utilizado para construir o servidor e os módulos de registo e gestão das ocorrências.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619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236668" y="142909"/>
            <a:ext cx="8961120" cy="5860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9.3. JavaScript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JavaScript é uma linguagem fundamental para criar páginas web interactivas. A documentação da Mozilla Developer Network apresenta as funcionalidades da linguagem e a sua utilização no desenvolvimento web (Mozilla, s.d.). No projecto, JavaScript poderá permitir actualizar os estados das ocorrências, validar formulários, apresentar mapas e criar painéis com informações estatísticas 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Vantagens: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Permite criar interfaces interactivas.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Funciona nos navegadores modernos.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Possui um ecossistema amplo de bibliotecas.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Pode ser utilizado no servidor através de ambientes como Node.js.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Desvantagens: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Exige atenção à gestão das dependências.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 código pode tornar-se complexo sem organização.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validação no navegador não substitui a validação no servidor.Aplicação no projecto: desenvolvimento da interface utilizada pelos munícipes e funcionários.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858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236668" y="411851"/>
            <a:ext cx="9767944" cy="5563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9.4. Linguagem C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 é uma linguagem de programação utilizada em sistemas operativos, software de baixo nível e aplicações que exigem controlo detalhado dos recursos do computador. Apesar da sua importância, não é a opção mais directa para desenvolver uma plataforma web municipal com formulários, mapas, autenticação e relatórios.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Vantagens: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Elevado controlo sobre os recursos.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Bom desempenho em aplicações adequadas ao seu uso.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Grande importância no ensino dos fundamentos da programação.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Desvantagens: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Maior complexidade para construir a aplicação web pretendida.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Necessidade de implementar ou integrar muitos componentes.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Menor conveniência para desenvolver rapidamente as funcionalidades descritas.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Aplicação no projecto: não é recomendada como linguagem principal, embora possa ser utilizada em componentes especializados.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710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430305" y="291091"/>
            <a:ext cx="9133243" cy="5563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9.5. Linguagem C++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C++ é uma linguagem de programação utilizada em aplicações de elevado desempenho, motores gráficos, simulações e sistemas especializados. Apresenta recursos avançados, mas a sua utilização na aplicação web principal deste projecto não oferece necessariamente vantagens suficientes para compensar a complexidade adicional.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Vantagens: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Bom desempenho.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Suporte à programação orientada a objectos.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Adequação a aplicações que exigem controlo de recursos.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Desvantagens: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Maior complexidade de desenvolvimento.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Necessidade de competências específicas.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Menor conveniência para a criação rápida de um sistema de gestão municipal baseado na web.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Aplicação no projecto: poderá ser considerada para componentes especializados, mas não constitui a primeira escolha para a plataforma principal.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766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645459" y="595853"/>
            <a:ext cx="8541571" cy="5369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9.6. Linguagem C#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C# é uma linguagem de programação utilizada frequentemente com a plataforma .NET para criar aplicações web, APIs e sistemas empresariais.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Vantagens: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Ferramentas de desenvolvimento integradas.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Suporte à programação orientada a objectos.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Boa adequação a sistemas empresariais.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Possibilidade de construir aplicações seguras e organizadas.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Desvantagens: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Exige conhecimentos da linguagem e da plataforma .NET.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equipa precisa de dominar as ferramentas seleccionadas.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arquitectura deve ser planeada para facilitar a manutenção.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Aplicação no projecto: desenvolvimento do servidor, dos módulos de gestão e das interfaces de programação.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127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204396" y="188498"/>
            <a:ext cx="10746889" cy="60652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9.7.Linguagem Java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Java é uma linguagem utilizada no desenvolvimento de aplicações empresariais, serviços web e sistemas de informação. Possui um ecossistema de ferramentas que permite construir aplicações estruturadas e preparadas para evoluir.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Vantagens: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Adequação a sistemas empresariais.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Ferramentas de desenvolvimento maduras.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Suporte a aplicações web.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Possibilidade de organizar sistemas de grande dimensão.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Desvantagens: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Pode exigir uma estrutura inicial mais complexa.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Requer conhecimentos específicos da linguagem e das ferramentas.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implementação pode ser mais demorada para equipas iniciantes.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Aplicação no projecto: desenvolvimento de serviços web e módulos de gestão, caso a equipa possua experiência em Java.</a:t>
            </a:r>
            <a:endParaRPr lang="pt-PT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2489077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0205347"/>
              </p:ext>
            </p:extLst>
          </p:nvPr>
        </p:nvGraphicFramePr>
        <p:xfrm>
          <a:off x="570154" y="935914"/>
          <a:ext cx="7078104" cy="35930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69109">
                  <a:extLst>
                    <a:ext uri="{9D8B030D-6E8A-4147-A177-3AD203B41FA5}">
                      <a16:colId xmlns:a16="http://schemas.microsoft.com/office/drawing/2014/main" val="377088334"/>
                    </a:ext>
                  </a:extLst>
                </a:gridCol>
                <a:gridCol w="1769109">
                  <a:extLst>
                    <a:ext uri="{9D8B030D-6E8A-4147-A177-3AD203B41FA5}">
                      <a16:colId xmlns:a16="http://schemas.microsoft.com/office/drawing/2014/main" val="1568309425"/>
                    </a:ext>
                  </a:extLst>
                </a:gridCol>
                <a:gridCol w="1769943">
                  <a:extLst>
                    <a:ext uri="{9D8B030D-6E8A-4147-A177-3AD203B41FA5}">
                      <a16:colId xmlns:a16="http://schemas.microsoft.com/office/drawing/2014/main" val="833548399"/>
                    </a:ext>
                  </a:extLst>
                </a:gridCol>
                <a:gridCol w="1769943">
                  <a:extLst>
                    <a:ext uri="{9D8B030D-6E8A-4147-A177-3AD203B41FA5}">
                      <a16:colId xmlns:a16="http://schemas.microsoft.com/office/drawing/2014/main" val="107915550"/>
                    </a:ext>
                  </a:extLst>
                </a:gridCol>
              </a:tblGrid>
              <a:tr h="4075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</a:rPr>
                        <a:t>Tecnologia </a:t>
                      </a:r>
                      <a:endParaRPr lang="pt-P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</a:rPr>
                        <a:t>Adequação ao Projecto</a:t>
                      </a:r>
                      <a:endParaRPr lang="pt-P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</a:rPr>
                        <a:t>Principal Vantagem</a:t>
                      </a:r>
                      <a:endParaRPr lang="pt-P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</a:rPr>
                        <a:t>Principal Cuidado</a:t>
                      </a:r>
                      <a:endParaRPr lang="pt-P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5180979"/>
                  </a:ext>
                </a:extLst>
              </a:tr>
              <a:tr h="37303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</a:rPr>
                        <a:t>Python</a:t>
                      </a:r>
                      <a:endParaRPr lang="pt-P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</a:rPr>
                        <a:t>Alta</a:t>
                      </a:r>
                      <a:endParaRPr lang="pt-P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</a:rPr>
                        <a:t>Desenvolvimento claro e rapido</a:t>
                      </a:r>
                      <a:endParaRPr lang="pt-P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</a:rPr>
                        <a:t>Segurança e configuração</a:t>
                      </a:r>
                      <a:endParaRPr lang="pt-P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14128330"/>
                  </a:ext>
                </a:extLst>
              </a:tr>
              <a:tr h="37303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</a:rPr>
                        <a:t>PHP</a:t>
                      </a:r>
                      <a:endParaRPr lang="pt-P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</a:rPr>
                        <a:t>Alta</a:t>
                      </a:r>
                      <a:endParaRPr lang="pt-P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</a:rPr>
                        <a:t>Integração com aplicações web</a:t>
                      </a:r>
                      <a:endParaRPr lang="pt-P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</a:rPr>
                        <a:t>Organização do codigo</a:t>
                      </a:r>
                      <a:endParaRPr lang="pt-P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39739152"/>
                  </a:ext>
                </a:extLst>
              </a:tr>
              <a:tr h="37303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</a:rPr>
                        <a:t>JavaScript</a:t>
                      </a:r>
                      <a:endParaRPr lang="pt-P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</a:rPr>
                        <a:t>Muito alta na interface</a:t>
                      </a:r>
                      <a:endParaRPr lang="pt-P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</a:rPr>
                        <a:t>Interactividade</a:t>
                      </a:r>
                      <a:endParaRPr lang="pt-P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</a:rPr>
                        <a:t>Validação e dependencias</a:t>
                      </a:r>
                      <a:endParaRPr lang="pt-P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80232"/>
                  </a:ext>
                </a:extLst>
              </a:tr>
              <a:tr h="5644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</a:rPr>
                        <a:t>C</a:t>
                      </a:r>
                      <a:endParaRPr lang="pt-P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</a:rPr>
                        <a:t>Baixa para a aplicação principal</a:t>
                      </a:r>
                      <a:endParaRPr lang="pt-P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</a:rPr>
                        <a:t>Controlo de recursos</a:t>
                      </a:r>
                      <a:endParaRPr lang="pt-P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</a:rPr>
                        <a:t>Complexisade web</a:t>
                      </a:r>
                      <a:endParaRPr lang="pt-P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05889039"/>
                  </a:ext>
                </a:extLst>
              </a:tr>
              <a:tr h="5644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</a:rPr>
                        <a:t>C++</a:t>
                      </a:r>
                      <a:endParaRPr lang="pt-P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</a:rPr>
                        <a:t>Baixa para a aplicação principal </a:t>
                      </a:r>
                      <a:endParaRPr lang="pt-P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</a:rPr>
                        <a:t>Desempenho</a:t>
                      </a:r>
                      <a:endParaRPr lang="pt-P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</a:rPr>
                        <a:t>Complexidade de manutenção </a:t>
                      </a:r>
                      <a:endParaRPr lang="pt-P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03659826"/>
                  </a:ext>
                </a:extLst>
              </a:tr>
              <a:tr h="37303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</a:rPr>
                        <a:t>C#</a:t>
                      </a:r>
                      <a:endParaRPr lang="pt-P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</a:rPr>
                        <a:t>Alta</a:t>
                      </a:r>
                      <a:endParaRPr lang="pt-P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</a:rPr>
                        <a:t>Ferramentas empresarias </a:t>
                      </a:r>
                      <a:endParaRPr lang="pt-P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</a:rPr>
                        <a:t>Conhecimento da plataforma</a:t>
                      </a:r>
                      <a:endParaRPr lang="pt-P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59605887"/>
                  </a:ext>
                </a:extLst>
              </a:tr>
              <a:tr h="5644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</a:rPr>
                        <a:t>Java</a:t>
                      </a:r>
                      <a:endParaRPr lang="pt-P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</a:rPr>
                        <a:t>Alta</a:t>
                      </a:r>
                      <a:endParaRPr lang="pt-PT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</a:rPr>
                        <a:t>Estrutura para sistemas empresarias</a:t>
                      </a:r>
                      <a:endParaRPr lang="pt-PT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</a:rPr>
                        <a:t>Complexidade inicial</a:t>
                      </a:r>
                      <a:endParaRPr lang="pt-PT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89561292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952576" y="395095"/>
            <a:ext cx="244708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9.8. Tabela Comparativa</a:t>
            </a:r>
            <a:endParaRPr kumimoji="0" lang="pt-PT" altLang="pt-PT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pt-PT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54652"/>
      </p:ext>
    </p:extLst>
  </p:cSld>
  <p:clrMapOvr>
    <a:masterClrMapping/>
  </p:clrMapOvr>
</p:sld>
</file>

<file path=ppt/theme/theme1.xml><?xml version="1.0" encoding="utf-8"?>
<a:theme xmlns:a="http://schemas.openxmlformats.org/drawingml/2006/main" name="Fatia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53</TotalTime>
  <Words>2358</Words>
  <Application>Microsoft Office PowerPoint</Application>
  <PresentationFormat>Widescreen</PresentationFormat>
  <Paragraphs>177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Century Gothic</vt:lpstr>
      <vt:lpstr>Times New Roman</vt:lpstr>
      <vt:lpstr>Wingdings 3</vt:lpstr>
      <vt:lpstr>Fatia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Cláudio de Carvalho</dc:creator>
  <cp:lastModifiedBy>Cláudio de Carvalho</cp:lastModifiedBy>
  <cp:revision>6</cp:revision>
  <dcterms:created xsi:type="dcterms:W3CDTF">2026-10-21T13:31:37Z</dcterms:created>
  <dcterms:modified xsi:type="dcterms:W3CDTF">2026-10-21T14:24:56Z</dcterms:modified>
</cp:coreProperties>
</file>